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B4965"/>
                </a:solidFill>
              </a:defRPr>
            </a:pPr>
            <a:r>
              <a:t>CoralTwin-DT</a:t>
            </a:r>
          </a:p>
          <a:p>
            <a:pPr>
              <a:spcBef>
                <a:spcPts val="1400"/>
              </a:spcBef>
              <a:defRPr sz="2200" b="1">
                <a:solidFill>
                  <a:srgbClr val="2B6CB0"/>
                </a:solidFill>
              </a:defRPr>
            </a:pPr>
            <a:r>
              <a:t>Digital Twin of Coral Reefs Under Thermal Stress and Ocean Acidification</a:t>
            </a:r>
            <a:br/>
            <a:r>
              <a:t>for Restoration and Conservation Prioritization</a:t>
            </a:r>
          </a:p>
          <a:p>
            <a:pPr>
              <a:spcBef>
                <a:spcPts val="2400"/>
              </a:spcBef>
              <a:defRPr sz="1200" i="1">
                <a:solidFill>
                  <a:srgbClr val="718096"/>
                </a:solidFill>
              </a:defRPr>
            </a:pPr>
            <a:r>
              <a:t>Doctoral Research Consortium | Global Change Biology / Ecological Informatics (2026)</a:t>
            </a:r>
            <a:br/>
            <a:r>
              <a:t>Scientific Attribution: Resultado obtenido mediante prototipo computacional del gemelo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4965"/>
                </a:solidFill>
              </a:defRPr>
            </a:pPr>
            <a:r>
              <a:t>1. The Global Coral Crisis &amp; Research Motivation</a:t>
            </a:r>
          </a:p>
          <a:p>
            <a:pPr>
              <a:defRPr sz="1400">
                <a:solidFill>
                  <a:srgbClr val="718096"/>
                </a:solidFill>
              </a:defRPr>
            </a:pPr>
            <a:r>
              <a:t>Compounding marine heatwaves and ocean acidification demand dynamic cyber-physical twins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600">
                <a:solidFill>
                  <a:srgbClr val="1B4965"/>
                </a:solidFill>
              </a:rPr>
              <a:t>• Mass Bleaching Acceleration: </a:t>
            </a:r>
            <a:r>
              <a:rPr sz="1500">
                <a:solidFill>
                  <a:srgbClr val="1A202C"/>
                </a:solidFill>
              </a:rPr>
              <a:t>Marine heatwave recurrence has shortened to 5.9 years globally, surpassing the natural decadal recovery window.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B4965"/>
                </a:solidFill>
              </a:rPr>
              <a:t>• Multi-Stressor Synergy: </a:t>
            </a:r>
            <a:r>
              <a:rPr sz="1500">
                <a:solidFill>
                  <a:srgbClr val="1A202C"/>
                </a:solidFill>
              </a:rPr>
              <a:t>Atmospheric pCO2 uptake drives ocean acidification, decreasing aragonite saturation and lowering critical thermal tipping points.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B4965"/>
                </a:solidFill>
              </a:rPr>
              <a:t>• Static Conservation Limitations: </a:t>
            </a:r>
            <a:r>
              <a:rPr sz="1500">
                <a:solidFill>
                  <a:srgbClr val="1A202C"/>
                </a:solidFill>
              </a:rPr>
              <a:t>Conventional Marine Protected Areas (MPAs) are static and fail to model forward decadal trajectories or prioritize outplanting sites.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B4965"/>
                </a:solidFill>
              </a:rPr>
              <a:t>• CoralTwin-DT Objective: </a:t>
            </a:r>
            <a:r>
              <a:rPr sz="1500">
                <a:solidFill>
                  <a:srgbClr val="1A202C"/>
                </a:solidFill>
              </a:rPr>
              <a:t>Engineer an end-to-end 6-layer digital twin coupling satellite telemetry, machine learning, and biophysical ODEs to guide active restoration.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4965"/>
                </a:solidFill>
              </a:defRPr>
            </a:pPr>
            <a:r>
              <a:t>2. Six-Layer Cyber-Physical Architecture</a:t>
            </a:r>
          </a:p>
          <a:p>
            <a:pPr>
              <a:defRPr sz="1400">
                <a:solidFill>
                  <a:srgbClr val="718096"/>
                </a:solidFill>
              </a:defRPr>
            </a:pPr>
            <a:r>
              <a:t>Unified pipeline from satellite telemetry acquisition to spatial 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450">
                <a:solidFill>
                  <a:srgbClr val="1B4965"/>
                </a:solidFill>
              </a:rPr>
              <a:t>• Layer 1: Data Acquisition: </a:t>
            </a:r>
            <a:r>
              <a:rPr sz="1400">
                <a:solidFill>
                  <a:srgbClr val="1A202C"/>
                </a:solidFill>
              </a:rPr>
              <a:t>NOAA Coral Reef Watch (5km), Sentinel-2 MSI (10m), Allen Coral Atlas, In-situ Moorings.</a:t>
            </a:r>
          </a:p>
          <a:p>
            <a:pPr>
              <a:spcAft>
                <a:spcPts val="800"/>
              </a:spcAft>
            </a:pPr>
            <a:r>
              <a:rPr b="1" sz="1450">
                <a:solidFill>
                  <a:srgbClr val="1B4965"/>
                </a:solidFill>
              </a:rPr>
              <a:t>• Layer 2: Data Integration: </a:t>
            </a:r>
            <a:r>
              <a:rPr sz="1400">
                <a:solidFill>
                  <a:srgbClr val="1A202C"/>
                </a:solidFill>
              </a:rPr>
              <a:t>500m x 500m grid resampling, daily aggregation, ISO 19115 FAIR metadata catalog.</a:t>
            </a:r>
          </a:p>
          <a:p>
            <a:pPr>
              <a:spcAft>
                <a:spcPts val="800"/>
              </a:spcAft>
            </a:pPr>
            <a:r>
              <a:rPr b="1" sz="1450">
                <a:solidFill>
                  <a:srgbClr val="1B4965"/>
                </a:solidFill>
              </a:rPr>
              <a:t>• Layer 3: Hybrid Modeling: </a:t>
            </a:r>
            <a:r>
              <a:rPr sz="1400">
                <a:solidFill>
                  <a:srgbClr val="1A202C"/>
                </a:solidFill>
              </a:rPr>
              <a:t>Coupled XGBoost / RF / Deep MLP classifiers and Mumby non-linear dynamical ODEs.</a:t>
            </a:r>
          </a:p>
          <a:p>
            <a:pPr>
              <a:spcAft>
                <a:spcPts val="800"/>
              </a:spcAft>
            </a:pPr>
            <a:r>
              <a:rPr b="1" sz="1450">
                <a:solidFill>
                  <a:srgbClr val="1B4965"/>
                </a:solidFill>
              </a:rPr>
              <a:t>• Layer 4: Scenario Simulation: </a:t>
            </a:r>
            <a:r>
              <a:rPr sz="1400">
                <a:solidFill>
                  <a:srgbClr val="1A202C"/>
                </a:solidFill>
              </a:rPr>
              <a:t>Forward 2025-2050 projections across SSP5-8.5, SSP2-4.5, Outplanting, and MPA protection.</a:t>
            </a:r>
          </a:p>
          <a:p>
            <a:pPr>
              <a:spcAft>
                <a:spcPts val="800"/>
              </a:spcAft>
            </a:pPr>
            <a:r>
              <a:rPr b="1" sz="1450">
                <a:solidFill>
                  <a:srgbClr val="1B4965"/>
                </a:solidFill>
              </a:rPr>
              <a:t>• Layer 5: Model Validation: </a:t>
            </a:r>
            <a:r>
              <a:rPr sz="1400">
                <a:solidFill>
                  <a:srgbClr val="1A202C"/>
                </a:solidFill>
              </a:rPr>
              <a:t>5-Fold Spatially Stratified CV, backtesting (2016-2024), and N=5,000 Monte Carlo uncertainty bounds.</a:t>
            </a:r>
          </a:p>
          <a:p>
            <a:pPr>
              <a:spcAft>
                <a:spcPts val="800"/>
              </a:spcAft>
            </a:pPr>
            <a:r>
              <a:rPr b="1" sz="1450">
                <a:solidFill>
                  <a:srgbClr val="1B4965"/>
                </a:solidFill>
              </a:rPr>
              <a:t>• Layer 6: Decision Support: </a:t>
            </a:r>
            <a:r>
              <a:rPr sz="1400">
                <a:solidFill>
                  <a:srgbClr val="1A202C"/>
                </a:solidFill>
              </a:rPr>
              <a:t>Interactive Environmental Dashboard and Spatial Restoration Priority Index (SRPI) Cartography.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4965"/>
                </a:solidFill>
              </a:defRPr>
            </a:pPr>
            <a:r>
              <a:t>3. Machine Learning Performance (5-Fold Spatial CV)</a:t>
            </a:r>
          </a:p>
          <a:p>
            <a:pPr>
              <a:defRPr sz="1400">
                <a:solidFill>
                  <a:srgbClr val="718096"/>
                </a:solidFill>
              </a:defRPr>
            </a:pPr>
            <a:r>
              <a:t>XGBoost achieves state-of-the-art classification and regression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XGBoost Multi-Task Accuracy: </a:t>
            </a:r>
            <a:r>
              <a:rPr sz="1400">
                <a:solidFill>
                  <a:srgbClr val="1A202C"/>
                </a:solidFill>
              </a:rPr>
              <a:t>Macro-F1 = 0.958, Accuracy = 96.1%, R² = 0.934 (RMSE = 3.82% cover loss).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Random Forest Performance: </a:t>
            </a:r>
            <a:r>
              <a:rPr sz="1400">
                <a:solidFill>
                  <a:srgbClr val="1A202C"/>
                </a:solidFill>
              </a:rPr>
              <a:t>Macro-F1 = 0.942, Accuracy = 94.6%, R² = 0.918 (RMSE = 4.25%).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Deep MLP Neural Network: </a:t>
            </a:r>
            <a:r>
              <a:rPr sz="1400">
                <a:solidFill>
                  <a:srgbClr val="1A202C"/>
                </a:solidFill>
              </a:rPr>
              <a:t>Macro-F1 = 0.915, Accuracy = 91.9%, R² = 0.885 (RMSE = 5.08%).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Linear Baseline Contrast: </a:t>
            </a:r>
            <a:r>
              <a:rPr sz="1400">
                <a:solidFill>
                  <a:srgbClr val="1A202C"/>
                </a:solidFill>
              </a:rPr>
              <a:t>Logistic / Ridge baseline achieves only Macro-F1 = 0.782, demonstrating critical non-linearity.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Spatial Generalization: </a:t>
            </a:r>
            <a:r>
              <a:rPr sz="1400">
                <a:solidFill>
                  <a:srgbClr val="1A202C"/>
                </a:solidFill>
              </a:rPr>
              <a:t>Spatial block cross-validation confirms high out-of-fold generalization with zero spatial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4965"/>
                </a:solidFill>
              </a:defRPr>
            </a:pPr>
            <a:r>
              <a:t>4. TreeSHAP Explainability &amp; Tipping Point Discovery</a:t>
            </a:r>
          </a:p>
          <a:p>
            <a:pPr>
              <a:defRPr sz="1400">
                <a:solidFill>
                  <a:srgbClr val="718096"/>
                </a:solidFill>
              </a:defRPr>
            </a:pPr>
            <a:r>
              <a:t>Quantifying the exact marginal contribution of compounding oceanographic stressors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Dominant Feature Contribution: </a:t>
            </a:r>
            <a:r>
              <a:rPr sz="1400">
                <a:solidFill>
                  <a:srgbClr val="1A202C"/>
                </a:solidFill>
              </a:rPr>
              <a:t>Degree Heating Weeks (DHW) drives 38.4% of total predictive variance.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Carbonate System Impairment: </a:t>
            </a:r>
            <a:r>
              <a:rPr sz="1400">
                <a:solidFill>
                  <a:srgbClr val="1A202C"/>
                </a:solidFill>
              </a:rPr>
              <a:t>Aragonite saturation (21.2%) and seawater pH (14.8%) represent secondary critical controls.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Structural Resilience: </a:t>
            </a:r>
            <a:r>
              <a:rPr sz="1400">
                <a:solidFill>
                  <a:srgbClr val="1A202C"/>
                </a:solidFill>
              </a:rPr>
              <a:t>Benthic rugosity (11.5%) and optical turbidity (6.9%) provide significant localized buffering.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Synergistic Tipping Point: </a:t>
            </a:r>
            <a:r>
              <a:rPr sz="1400">
                <a:solidFill>
                  <a:srgbClr val="1A202C"/>
                </a:solidFill>
              </a:rPr>
              <a:t>Under acidified conditions (pH 7.75, Omega 2.45), the thermal mortality threshold drops from 8.5 to 5.8 °C-weeks.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4965"/>
                </a:solidFill>
              </a:defRPr>
            </a:pPr>
            <a:r>
              <a:t>5. Forward Scenario Trajectories (2025–2050)</a:t>
            </a:r>
          </a:p>
          <a:p>
            <a:pPr>
              <a:defRPr sz="1400">
                <a:solidFill>
                  <a:srgbClr val="718096"/>
                </a:solidFill>
              </a:defRPr>
            </a:pPr>
            <a:r>
              <a:t>Coupled dynamical simulations evaluate intervention trade-offs under IPCC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Scenario 1 (SSP5-8.5 Unmitigated): </a:t>
            </a:r>
            <a:r>
              <a:rPr sz="1400">
                <a:solidFill>
                  <a:srgbClr val="1A202C"/>
                </a:solidFill>
              </a:rPr>
              <a:t>Coral cover collapses to 4.8% by 2050; net framework dissolution (-1.82 kg CaCO3/m²/yr).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Scenario 2 (SSP2-4.5 Moderate): </a:t>
            </a:r>
            <a:r>
              <a:rPr sz="1400">
                <a:solidFill>
                  <a:srgbClr val="1A202C"/>
                </a:solidFill>
              </a:rPr>
              <a:t>Coral cover stabilizes at 21.4% with modest framework accretion (+2.45 kg CaCO3/m²/yr).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Scenario 3 (Active Outplanting): </a:t>
            </a:r>
            <a:r>
              <a:rPr sz="1400">
                <a:solidFill>
                  <a:srgbClr val="1A202C"/>
                </a:solidFill>
              </a:rPr>
              <a:t>Thermally resilient micro-fragments (+2°C tolerance) maintain 38.7% cover and +5.10 kg CaCO3/m²/yr.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Scenario 4 (Integrated MPA + Outplant): </a:t>
            </a:r>
            <a:r>
              <a:rPr sz="1400">
                <a:solidFill>
                  <a:srgbClr val="1A202C"/>
                </a:solidFill>
              </a:rPr>
              <a:t>Synergistic recovery to 46.2% live coral cover and +6.80 kg CaCO3/m²/yr framework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4965"/>
                </a:solidFill>
              </a:defRPr>
            </a:pPr>
            <a:r>
              <a:t>6. Spatial Restoration Priority Index (SRPI)</a:t>
            </a:r>
          </a:p>
          <a:p>
            <a:pPr>
              <a:defRPr sz="1400">
                <a:solidFill>
                  <a:srgbClr val="718096"/>
                </a:solidFill>
              </a:defRPr>
            </a:pPr>
            <a:r>
              <a:t>Multi-criteria spatial decision analysis channels outplanting into hydrodynamic micro-refugia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Multi-Criteria Formulation: </a:t>
            </a:r>
            <a:r>
              <a:rPr sz="1400">
                <a:solidFill>
                  <a:srgbClr val="1A202C"/>
                </a:solidFill>
              </a:rPr>
              <a:t>Integrates Thermal Refugia (35%), Degradation Urgency (25%), Rugosity (25%), and Water Clarity (15%).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Tier 1 Action Zones: </a:t>
            </a:r>
            <a:r>
              <a:rPr sz="1400">
                <a:solidFill>
                  <a:srgbClr val="1A202C"/>
                </a:solidFill>
              </a:rPr>
              <a:t>Top 25% priority parcels identified in well-flushed fore-reef sectors with high structural complexity.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Open GIS Vector Delivery: </a:t>
            </a:r>
            <a:r>
              <a:rPr sz="1400">
                <a:solidFill>
                  <a:srgbClr val="1A202C"/>
                </a:solidFill>
              </a:rPr>
              <a:t>Standard GeoJSON priority zoning layer enables seamless ingestion into QGIS, ArcGIS, and marine park portals.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4965"/>
                </a:solidFill>
              </a:defRPr>
            </a:pPr>
            <a:r>
              <a:t>7. Conclusions &amp; Management Policy Recommendations</a:t>
            </a:r>
          </a:p>
          <a:p>
            <a:pPr>
              <a:defRPr sz="1400">
                <a:solidFill>
                  <a:srgbClr val="718096"/>
                </a:solidFill>
              </a:defRPr>
            </a:pPr>
            <a:r>
              <a:t>Evidence-based digital twins for 21st century marine conservation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Digital Twins Bridge the Gap: </a:t>
            </a:r>
            <a:r>
              <a:rPr sz="1400">
                <a:solidFill>
                  <a:srgbClr val="1A202C"/>
                </a:solidFill>
              </a:rPr>
              <a:t>Coupling satellite remote sensing with AI and dynamical biophysics unlocks proactive reef management.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Acidification Cannot Be Ignored: </a:t>
            </a:r>
            <a:r>
              <a:rPr sz="1400">
                <a:solidFill>
                  <a:srgbClr val="1A202C"/>
                </a:solidFill>
              </a:rPr>
              <a:t>Operational marine heatwave alert systems must incorporate carbonate saturation modifiers.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Hybrid Conservation Mandate: </a:t>
            </a:r>
            <a:r>
              <a:rPr sz="1400">
                <a:solidFill>
                  <a:srgbClr val="1A202C"/>
                </a:solidFill>
              </a:rPr>
              <a:t>Resource managers must combine no-take MPA herbivory protection with active resilient micro-fragment propagation.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4965"/>
                </a:solidFill>
              </a:rPr>
              <a:t>• FAIR Open-Source Release: </a:t>
            </a:r>
            <a:r>
              <a:rPr sz="1400">
                <a:solidFill>
                  <a:srgbClr val="1A202C"/>
                </a:solidFill>
              </a:rPr>
              <a:t>Complete repository, models, and data are publicly available at https://github.com/HrSly11/CoralTwin-DT.git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